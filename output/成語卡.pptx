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5100" y="165100"/>
            <a:ext cx="11861800" cy="6527800"/>
          </a:xfrm>
          <a:prstGeom prst="rect">
            <a:avLst/>
          </a:prstGeom>
          <a:noFill/>
          <a:ln w="19050">
            <a:solidFill>
              <a:srgbClr val="DC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69900"/>
            <a:ext cx="2273300" cy="342900"/>
          </a:xfrm>
          <a:prstGeom prst="rect">
            <a:avLst/>
          </a:prstGeom>
          <a:solidFill>
            <a:srgbClr val="8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9300" y="495300"/>
            <a:ext cx="2032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8F0"/>
                </a:solidFill>
                <a:latin typeface="Noto Sans TC"/>
                <a:ea typeface="Noto Sans TC"/>
                <a:cs typeface="Noto Sans TC"/>
              </a:rPr>
              <a:t>國語　第一課　成語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181100"/>
            <a:ext cx="13335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6E6459"/>
                </a:solidFill>
                <a:latin typeface="Noto Sans TC"/>
                <a:ea typeface="Noto Sans TC"/>
                <a:cs typeface="Noto Sans TC"/>
              </a:rPr>
              <a:t>ㄑㄧㄠˇ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0" y="1181100"/>
            <a:ext cx="13335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6E6459"/>
                </a:solidFill>
                <a:latin typeface="Noto Sans TC"/>
                <a:ea typeface="Noto Sans TC"/>
                <a:cs typeface="Noto Sans TC"/>
              </a:rPr>
              <a:t>ㄉㄨㄛˊ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1181100"/>
            <a:ext cx="13335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6E6459"/>
                </a:solidFill>
                <a:latin typeface="Noto Sans TC"/>
                <a:ea typeface="Noto Sans TC"/>
                <a:cs typeface="Noto Sans TC"/>
              </a:rPr>
              <a:t>ㄊㄧㄢ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0" y="1181100"/>
            <a:ext cx="13335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6E6459"/>
                </a:solidFill>
                <a:latin typeface="Noto Sans TC"/>
                <a:ea typeface="Noto Sans TC"/>
                <a:cs typeface="Noto Sans TC"/>
              </a:rPr>
              <a:t>ㄍㄨㄥ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498600"/>
            <a:ext cx="5334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7800" b="1" spc="2700">
                <a:solidFill>
                  <a:srgbClr val="2B2B2B"/>
                </a:solidFill>
                <a:latin typeface="Noto Sans TC"/>
                <a:ea typeface="Noto Sans TC"/>
                <a:cs typeface="Noto Sans TC"/>
              </a:rPr>
              <a:t>巧奪天工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628900"/>
            <a:ext cx="5334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C9A227"/>
                </a:solidFill>
                <a:latin typeface="Noto Sans TC"/>
                <a:ea typeface="Noto Sans TC"/>
                <a:cs typeface="Noto Sans TC"/>
              </a:rPr>
              <a:t>qiǎo duó tiān gōng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2971800"/>
            <a:ext cx="10972800" cy="12700"/>
          </a:xfrm>
          <a:prstGeom prst="rect">
            <a:avLst/>
          </a:prstGeom>
          <a:solidFill>
            <a:srgbClr val="DC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09600" y="3263900"/>
            <a:ext cx="50800" cy="2159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2000" y="3225800"/>
            <a:ext cx="127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8C2F26"/>
                </a:solidFill>
                <a:latin typeface="Noto Sans TC"/>
                <a:ea typeface="Noto Sans TC"/>
                <a:cs typeface="Noto Sans TC"/>
              </a:rPr>
              <a:t>解釋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606800"/>
            <a:ext cx="10820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B2B2B"/>
                </a:solidFill>
                <a:latin typeface="Noto Sans TC"/>
                <a:ea typeface="Noto Sans TC"/>
                <a:cs typeface="Noto Sans TC"/>
              </a:rPr>
              <a:t>人工製作的精巧程度，勝過了大自然的造化。用來形容技藝十分高超巧妙，作品精美得令人讚嘆。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962400"/>
            <a:ext cx="10820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E6459"/>
                </a:solidFill>
                <a:latin typeface="Noto Sans TC"/>
                <a:ea typeface="Noto Sans TC"/>
                <a:cs typeface="Noto Sans TC"/>
              </a:rPr>
              <a:t>（白話）人做出來的東西，比老天爺造的還要精緻漂亮。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445000"/>
            <a:ext cx="50800" cy="2159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2000" y="4406900"/>
            <a:ext cx="127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8C2F26"/>
                </a:solidFill>
                <a:latin typeface="Noto Sans TC"/>
                <a:ea typeface="Noto Sans TC"/>
                <a:cs typeface="Noto Sans TC"/>
              </a:rPr>
              <a:t>例句</a:t>
            </a:r>
          </a:p>
        </p:txBody>
      </p:sp>
      <p:sp>
        <p:nvSpPr>
          <p:cNvPr id="18" name="Oval 17"/>
          <p:cNvSpPr/>
          <p:nvPr/>
        </p:nvSpPr>
        <p:spPr>
          <a:xfrm>
            <a:off x="762000" y="4813300"/>
            <a:ext cx="215900" cy="215900"/>
          </a:xfrm>
          <a:prstGeom prst="ellipse">
            <a:avLst/>
          </a:prstGeom>
          <a:solidFill>
            <a:srgbClr val="8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2000" y="4832350"/>
            <a:ext cx="2159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8F0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4787900"/>
            <a:ext cx="104775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B2B2B"/>
                </a:solidFill>
                <a:latin typeface="Noto Sans TC"/>
                <a:ea typeface="Noto Sans TC"/>
                <a:cs typeface="Noto Sans TC"/>
              </a:rPr>
              <a:t>故宮的翠玉白菜雕工巧奪天工，連葉尖上的螽斯都栩栩如生。</a:t>
            </a:r>
          </a:p>
        </p:txBody>
      </p:sp>
      <p:sp>
        <p:nvSpPr>
          <p:cNvPr id="21" name="Oval 20"/>
          <p:cNvSpPr/>
          <p:nvPr/>
        </p:nvSpPr>
        <p:spPr>
          <a:xfrm>
            <a:off x="762000" y="5194300"/>
            <a:ext cx="215900" cy="215900"/>
          </a:xfrm>
          <a:prstGeom prst="ellipse">
            <a:avLst/>
          </a:prstGeom>
          <a:solidFill>
            <a:srgbClr val="8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2000" y="5213350"/>
            <a:ext cx="2159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8F0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" y="5168900"/>
            <a:ext cx="104775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B2B2B"/>
                </a:solidFill>
                <a:latin typeface="Noto Sans TC"/>
                <a:ea typeface="Noto Sans TC"/>
                <a:cs typeface="Noto Sans TC"/>
              </a:rPr>
              <a:t>這座廟宇的樑柱木雕巧奪天工，每一刀都看得出老師傅的功力。</a:t>
            </a:r>
          </a:p>
        </p:txBody>
      </p:sp>
      <p:sp>
        <p:nvSpPr>
          <p:cNvPr id="24" name="Oval 23"/>
          <p:cNvSpPr/>
          <p:nvPr/>
        </p:nvSpPr>
        <p:spPr>
          <a:xfrm>
            <a:off x="762000" y="5575300"/>
            <a:ext cx="215900" cy="215900"/>
          </a:xfrm>
          <a:prstGeom prst="ellipse">
            <a:avLst/>
          </a:prstGeom>
          <a:solidFill>
            <a:srgbClr val="8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2000" y="5594350"/>
            <a:ext cx="2159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8F0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" y="5549900"/>
            <a:ext cx="104775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B2B2B"/>
                </a:solidFill>
                <a:latin typeface="Noto Sans TC"/>
                <a:ea typeface="Noto Sans TC"/>
                <a:cs typeface="Noto Sans TC"/>
              </a:rPr>
              <a:t>姊姊摺的紙鶴巧奪天工，同學都以為是店裡買來的。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600" y="5842000"/>
            <a:ext cx="10972800" cy="546100"/>
          </a:xfrm>
          <a:prstGeom prst="roundRect">
            <a:avLst/>
          </a:prstGeom>
          <a:solidFill>
            <a:srgbClr val="FBEFE4"/>
          </a:solidFill>
          <a:ln w="12700">
            <a:solidFill>
              <a:srgbClr val="E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4700" y="5988050"/>
            <a:ext cx="254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B4501F"/>
                </a:solidFill>
                <a:latin typeface="Noto Sans TC"/>
                <a:ea typeface="Noto Sans TC"/>
                <a:cs typeface="Noto Sans TC"/>
              </a:rPr>
              <a:t>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4100" y="5988050"/>
            <a:ext cx="101473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4501F"/>
                </a:solidFill>
                <a:latin typeface="Noto Sans TC"/>
                <a:ea typeface="Noto Sans TC"/>
                <a:cs typeface="Noto Sans TC"/>
              </a:rPr>
              <a:t>「巧奪天工」形容的是「人做出來」的作品；如果要形容天然形成的景觀（例如野柳女王頭），一般會用「鬼斧神工」。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5100" y="165100"/>
            <a:ext cx="11861800" cy="6527800"/>
          </a:xfrm>
          <a:prstGeom prst="rect">
            <a:avLst/>
          </a:prstGeom>
          <a:noFill/>
          <a:ln w="19050">
            <a:solidFill>
              <a:srgbClr val="DC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69900"/>
            <a:ext cx="2273300" cy="342900"/>
          </a:xfrm>
          <a:prstGeom prst="rect">
            <a:avLst/>
          </a:prstGeom>
          <a:solidFill>
            <a:srgbClr val="8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9300" y="495300"/>
            <a:ext cx="2032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8F0"/>
                </a:solidFill>
                <a:latin typeface="Noto Sans TC"/>
                <a:ea typeface="Noto Sans TC"/>
                <a:cs typeface="Noto Sans TC"/>
              </a:rPr>
              <a:t>國語　第一課　成語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181100"/>
            <a:ext cx="13335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6E6459"/>
                </a:solidFill>
                <a:latin typeface="Noto Sans TC"/>
                <a:ea typeface="Noto Sans TC"/>
                <a:cs typeface="Noto Sans TC"/>
              </a:rPr>
              <a:t>ㄑㄩ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0" y="1181100"/>
            <a:ext cx="13335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6E6459"/>
                </a:solidFill>
                <a:latin typeface="Noto Sans TC"/>
                <a:ea typeface="Noto Sans TC"/>
                <a:cs typeface="Noto Sans TC"/>
              </a:rPr>
              <a:t>ㄓˇ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1181100"/>
            <a:ext cx="13335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6E6459"/>
                </a:solidFill>
                <a:latin typeface="Noto Sans TC"/>
                <a:ea typeface="Noto Sans TC"/>
                <a:cs typeface="Noto Sans TC"/>
              </a:rPr>
              <a:t>ㄎㄜˇ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0" y="1181100"/>
            <a:ext cx="13335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6E6459"/>
                </a:solidFill>
                <a:latin typeface="Noto Sans TC"/>
                <a:ea typeface="Noto Sans TC"/>
                <a:cs typeface="Noto Sans TC"/>
              </a:rPr>
              <a:t>ㄕㄨˇ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498600"/>
            <a:ext cx="5334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7800" b="1" spc="2700">
                <a:solidFill>
                  <a:srgbClr val="2B2B2B"/>
                </a:solidFill>
                <a:latin typeface="Noto Sans TC"/>
                <a:ea typeface="Noto Sans TC"/>
                <a:cs typeface="Noto Sans TC"/>
              </a:rPr>
              <a:t>屈指可數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628900"/>
            <a:ext cx="5334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C9A227"/>
                </a:solidFill>
                <a:latin typeface="Noto Sans TC"/>
                <a:ea typeface="Noto Sans TC"/>
                <a:cs typeface="Noto Sans TC"/>
              </a:rPr>
              <a:t>qū zhǐ kě shǔ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2971800"/>
            <a:ext cx="10972800" cy="12700"/>
          </a:xfrm>
          <a:prstGeom prst="rect">
            <a:avLst/>
          </a:prstGeom>
          <a:solidFill>
            <a:srgbClr val="DC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09600" y="3263900"/>
            <a:ext cx="50800" cy="2159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2000" y="3225800"/>
            <a:ext cx="127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8C2F26"/>
                </a:solidFill>
                <a:latin typeface="Noto Sans TC"/>
                <a:ea typeface="Noto Sans TC"/>
                <a:cs typeface="Noto Sans TC"/>
              </a:rPr>
              <a:t>解釋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606800"/>
            <a:ext cx="10820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B2B2B"/>
                </a:solidFill>
                <a:latin typeface="Noto Sans TC"/>
                <a:ea typeface="Noto Sans TC"/>
                <a:cs typeface="Noto Sans TC"/>
              </a:rPr>
              <a:t>彎起手指頭就能數得完。形容數量非常稀少，少到一隻手就數得過來。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962400"/>
            <a:ext cx="10820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E6459"/>
                </a:solidFill>
                <a:latin typeface="Noto Sans TC"/>
                <a:ea typeface="Noto Sans TC"/>
                <a:cs typeface="Noto Sans TC"/>
              </a:rPr>
              <a:t>（白話）扳著手指頭就數完了，表示東西或人真的很少。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445000"/>
            <a:ext cx="50800" cy="2159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2000" y="4406900"/>
            <a:ext cx="127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8C2F26"/>
                </a:solidFill>
                <a:latin typeface="Noto Sans TC"/>
                <a:ea typeface="Noto Sans TC"/>
                <a:cs typeface="Noto Sans TC"/>
              </a:rPr>
              <a:t>例句</a:t>
            </a:r>
          </a:p>
        </p:txBody>
      </p:sp>
      <p:sp>
        <p:nvSpPr>
          <p:cNvPr id="18" name="Oval 17"/>
          <p:cNvSpPr/>
          <p:nvPr/>
        </p:nvSpPr>
        <p:spPr>
          <a:xfrm>
            <a:off x="762000" y="4813300"/>
            <a:ext cx="215900" cy="215900"/>
          </a:xfrm>
          <a:prstGeom prst="ellipse">
            <a:avLst/>
          </a:prstGeom>
          <a:solidFill>
            <a:srgbClr val="8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2000" y="4832350"/>
            <a:ext cx="2159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8F0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4787900"/>
            <a:ext cx="104775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B2B2B"/>
                </a:solidFill>
                <a:latin typeface="Noto Sans TC"/>
                <a:ea typeface="Noto Sans TC"/>
                <a:cs typeface="Noto Sans TC"/>
              </a:rPr>
              <a:t>這種罕見的候鳥全臺灣屈指可數，能親眼看到算是很幸運。</a:t>
            </a:r>
          </a:p>
        </p:txBody>
      </p:sp>
      <p:sp>
        <p:nvSpPr>
          <p:cNvPr id="21" name="Oval 20"/>
          <p:cNvSpPr/>
          <p:nvPr/>
        </p:nvSpPr>
        <p:spPr>
          <a:xfrm>
            <a:off x="762000" y="5194300"/>
            <a:ext cx="215900" cy="215900"/>
          </a:xfrm>
          <a:prstGeom prst="ellipse">
            <a:avLst/>
          </a:prstGeom>
          <a:solidFill>
            <a:srgbClr val="8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2000" y="5213350"/>
            <a:ext cx="2159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8F0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" y="5168900"/>
            <a:ext cx="104775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B2B2B"/>
                </a:solidFill>
                <a:latin typeface="Noto Sans TC"/>
                <a:ea typeface="Noto Sans TC"/>
                <a:cs typeface="Noto Sans TC"/>
              </a:rPr>
              <a:t>班上能把整首詩一字不漏背完的同學屈指可數，小美就是其中一個。</a:t>
            </a:r>
          </a:p>
        </p:txBody>
      </p:sp>
      <p:sp>
        <p:nvSpPr>
          <p:cNvPr id="24" name="Oval 23"/>
          <p:cNvSpPr/>
          <p:nvPr/>
        </p:nvSpPr>
        <p:spPr>
          <a:xfrm>
            <a:off x="762000" y="5575300"/>
            <a:ext cx="215900" cy="215900"/>
          </a:xfrm>
          <a:prstGeom prst="ellipse">
            <a:avLst/>
          </a:prstGeom>
          <a:solidFill>
            <a:srgbClr val="8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2000" y="5594350"/>
            <a:ext cx="2159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8F0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" y="5549900"/>
            <a:ext cx="104775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B2B2B"/>
                </a:solidFill>
                <a:latin typeface="Noto Sans TC"/>
                <a:ea typeface="Noto Sans TC"/>
                <a:cs typeface="Noto Sans TC"/>
              </a:rPr>
              <a:t>老街上還在用手工做傳統糕餅的店家，如今已經屈指可數了。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600" y="5842000"/>
            <a:ext cx="10972800" cy="546100"/>
          </a:xfrm>
          <a:prstGeom prst="roundRect">
            <a:avLst/>
          </a:prstGeom>
          <a:solidFill>
            <a:srgbClr val="FBEFE4"/>
          </a:solidFill>
          <a:ln w="12700">
            <a:solidFill>
              <a:srgbClr val="E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4700" y="5988050"/>
            <a:ext cx="254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B4501F"/>
                </a:solidFill>
                <a:latin typeface="Noto Sans TC"/>
                <a:ea typeface="Noto Sans TC"/>
                <a:cs typeface="Noto Sans TC"/>
              </a:rPr>
              <a:t>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4100" y="5988050"/>
            <a:ext cx="101473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4501F"/>
                </a:solidFill>
                <a:latin typeface="Noto Sans TC"/>
                <a:ea typeface="Noto Sans TC"/>
                <a:cs typeface="Noto Sans TC"/>
              </a:rPr>
              <a:t>「數」在這裡讀ㄕㄨˇ（計算），不讀ㄕㄨˋ。另外它是形容「數量很少」，不是稱讚人厲害；要說名次在最前面，得用「數一數二」。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